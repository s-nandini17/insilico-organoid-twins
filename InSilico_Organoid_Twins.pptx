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0"/>
  </p:notesMasterIdLst>
  <p:sldIdLst>
    <p:sldId id="271" r:id="rId2"/>
    <p:sldId id="257" r:id="rId3"/>
    <p:sldId id="270" r:id="rId4"/>
    <p:sldId id="275" r:id="rId5"/>
    <p:sldId id="260" r:id="rId6"/>
    <p:sldId id="273" r:id="rId7"/>
    <p:sldId id="274" r:id="rId8"/>
    <p:sldId id="269" r:id="rId9"/>
  </p:sldIdLst>
  <p:sldSz cx="24384000" cy="13716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102D69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BFBFBF"/>
              </a:solidFill>
              <a:prstDash val="solid"/>
              <a:round/>
            </a:ln>
          </a:top>
          <a:bottom>
            <a:ln w="12700" cap="flat">
              <a:solidFill>
                <a:srgbClr val="BFBFBF"/>
              </a:solidFill>
              <a:prstDash val="solid"/>
              <a:round/>
            </a:ln>
          </a:bottom>
          <a:insideH>
            <a:ln w="12700" cap="flat">
              <a:solidFill>
                <a:srgbClr val="BFBFB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>
          <a:latin typeface="HSE Sans Regular"/>
          <a:ea typeface="HSE Sans Regular"/>
          <a:cs typeface="HSE Sans Regular"/>
        </a:font>
        <a:srgbClr val="102D69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BFBFBF"/>
              </a:solidFill>
              <a:prstDash val="solid"/>
              <a:round/>
            </a:ln>
          </a:top>
          <a:bottom>
            <a:ln w="12700" cap="flat">
              <a:solidFill>
                <a:srgbClr val="BFBFB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F2F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SE Sans Regular"/>
          <a:ea typeface="HSE Sans Regular"/>
          <a:cs typeface="HSE Sans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HSE Sans Bold"/>
          <a:ea typeface="HSE Sans Bold"/>
          <a:cs typeface="HSE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j-lt"/>
        <a:ea typeface="+mj-ea"/>
        <a:cs typeface="+mj-cs"/>
        <a:sym typeface="Calibri"/>
      </a:defRPr>
    </a:lvl1pPr>
    <a:lvl2pPr indent="228600" defTabSz="1828800" latinLnBrk="0">
      <a:defRPr sz="2400">
        <a:latin typeface="+mj-lt"/>
        <a:ea typeface="+mj-ea"/>
        <a:cs typeface="+mj-cs"/>
        <a:sym typeface="Calibri"/>
      </a:defRPr>
    </a:lvl2pPr>
    <a:lvl3pPr indent="457200" defTabSz="1828800" latinLnBrk="0">
      <a:defRPr sz="2400">
        <a:latin typeface="+mj-lt"/>
        <a:ea typeface="+mj-ea"/>
        <a:cs typeface="+mj-cs"/>
        <a:sym typeface="Calibri"/>
      </a:defRPr>
    </a:lvl3pPr>
    <a:lvl4pPr indent="685800" defTabSz="1828800" latinLnBrk="0">
      <a:defRPr sz="2400">
        <a:latin typeface="+mj-lt"/>
        <a:ea typeface="+mj-ea"/>
        <a:cs typeface="+mj-cs"/>
        <a:sym typeface="Calibri"/>
      </a:defRPr>
    </a:lvl4pPr>
    <a:lvl5pPr indent="914400" defTabSz="1828800" latinLnBrk="0">
      <a:defRPr sz="2400">
        <a:latin typeface="+mj-lt"/>
        <a:ea typeface="+mj-ea"/>
        <a:cs typeface="+mj-cs"/>
        <a:sym typeface="Calibri"/>
      </a:defRPr>
    </a:lvl5pPr>
    <a:lvl6pPr indent="1143000" defTabSz="1828800" latinLnBrk="0">
      <a:defRPr sz="2400">
        <a:latin typeface="+mj-lt"/>
        <a:ea typeface="+mj-ea"/>
        <a:cs typeface="+mj-cs"/>
        <a:sym typeface="Calibri"/>
      </a:defRPr>
    </a:lvl6pPr>
    <a:lvl7pPr indent="1371600" defTabSz="1828800" latinLnBrk="0">
      <a:defRPr sz="2400">
        <a:latin typeface="+mj-lt"/>
        <a:ea typeface="+mj-ea"/>
        <a:cs typeface="+mj-cs"/>
        <a:sym typeface="Calibri"/>
      </a:defRPr>
    </a:lvl7pPr>
    <a:lvl8pPr indent="1600200" defTabSz="1828800" latinLnBrk="0">
      <a:defRPr sz="2400">
        <a:latin typeface="+mj-lt"/>
        <a:ea typeface="+mj-ea"/>
        <a:cs typeface="+mj-cs"/>
        <a:sym typeface="Calibri"/>
      </a:defRPr>
    </a:lvl8pPr>
    <a:lvl9pPr indent="1828800" defTabSz="1828800" latinLnBrk="0">
      <a:defRPr sz="24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05F05-AB1E-442D-B324-9192D50F7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C1E298-97BE-4900-A225-16B21FFC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F4CBC6-B42C-4CE0-9028-E914EFE6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0D8E9D-2665-4262-8AF6-3C4FFA59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D9D8F2-D97D-48FD-A2AD-AE918299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15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BE5A9-56CE-438A-AB64-B211612B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BA5751-2079-4D5D-8377-7A35D956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E820EA-6283-4DA6-8456-711F6BAA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2DE18F-5ADA-4E0E-B6F8-DAAF392C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F619F5-3692-432F-A1BC-7FFF5685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963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7C4D8-43D6-4952-8953-8FFD0636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E592D7-F6B2-4B99-A5A1-3A9F540BD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249957-4AAF-4761-BD8B-FD4A32A4A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9647AD-4BDE-41C0-84D6-51FC3B504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7BCBE1-13C4-44EF-8006-A12CD1DF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00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F95C5-EC18-4F05-B2C8-45A2C228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4086EB-75CC-4042-B335-A59587C7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30A5FE-5BA5-41D0-AC3D-62B861234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E4A55D-830D-4CFC-889E-72757677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F52342-7255-4FDB-A52F-46A72DD2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D827D7-4C61-4BE2-BCA9-0FA6FA01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435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6B09A-C2AF-4E52-A8B4-CD665BC4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B7C846-3B22-46A9-B776-C501D037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63CB7D-B6FD-4C0A-AE21-EDF6DF872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1F815B-623D-406E-ACDF-E47776290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A5BB6F-70EC-437B-839B-11734E882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BB18ED-1E92-4E80-B467-8CF2AD34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67C907-9AE3-4ACD-A0FA-3AB6B7A8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EC7EB5A-2086-4CAE-B26B-B0B43476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40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47BA9-C9ED-4643-AE30-6EEC5AC9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4669B3-6B7B-4A4E-93ED-376EB9F1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40CF5-1931-47CD-BC49-F1C1611AA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88D346-5F43-4323-A2EF-41B957C4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12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DBFC9A1-87EC-40AC-B733-72EB8C9A4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BD10CE-BA34-4B84-8AF4-30C73A38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16A319-EBDC-4070-9897-4933780E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40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3FC36-7017-4EE5-8EBA-614B2064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FE6CF-77D8-404A-B7D7-A610279C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856E30-01CF-46E5-A929-59EA422CC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9E8431-2B9C-4C54-937A-F789D73C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36DDE1-B4DE-420E-A73B-9526B7FB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E3665E-0B74-47A0-8FE1-6FF6ED57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2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5648E-6D19-4ED5-93BE-F1CA5BAC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6B0924-43D6-4C75-87AA-E8553F014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602EC9-3918-496F-B7BD-F931B1D2F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5DC916-2C41-4F81-B9F2-136F4718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B6956A-CA8C-4D23-8F30-FC018777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DA7E8C-B15C-42AC-B917-DE812CB1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83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0ACC9-6E1E-426E-A2E2-FD236F676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1DC60D-4021-4529-851E-8151C2AB2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1F2313-488E-415D-9210-372096E68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CEFF9D-6C54-4706-A316-60F45BBA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A07BE3-C251-46CF-8510-25E856C8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387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330D62-2F1E-4D48-88C2-A34DE37E7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DC19AE-0D31-446C-955E-3245DD539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CB6969-AF99-41EC-A507-E0BA6171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3CB8E4-054B-4372-B867-EBAC8C14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4B52A9-EF01-4E9B-9525-C4611E0F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713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7" name="Название подразделения в две или три строки (12pt)"/>
          <p:cNvSpPr txBox="1">
            <a:spLocks noGrp="1"/>
          </p:cNvSpPr>
          <p:nvPr>
            <p:ph type="body" sz="quarter" idx="21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24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8" name="Москва 2022 (12pt)"/>
          <p:cNvSpPr txBox="1">
            <a:spLocks noGrp="1"/>
          </p:cNvSpPr>
          <p:nvPr>
            <p:ph type="body" sz="quarter" idx="22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24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" name="Название презентации может быть набрано в две  или три строки (43 pt)"/>
          <p:cNvSpPr txBox="1">
            <a:spLocks noGrp="1"/>
          </p:cNvSpPr>
          <p:nvPr>
            <p:ph type="body" sz="half" idx="23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17200"/>
              </a:lnSpc>
              <a:spcBef>
                <a:spcPts val="0"/>
              </a:spcBef>
              <a:buSzTx/>
              <a:buFontTx/>
              <a:buNone/>
              <a:defRPr sz="86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0" name="Если нужно больше места,  то используйте подзаголовок (16 pt)"/>
          <p:cNvSpPr txBox="1">
            <a:spLocks noGrp="1"/>
          </p:cNvSpPr>
          <p:nvPr>
            <p:ph type="body" sz="quarter" idx="24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ts val="5200"/>
              </a:lnSpc>
              <a:spcBef>
                <a:spcPts val="0"/>
              </a:spcBef>
              <a:buSzTx/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759416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Уровень текста 1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0" name="TextBox 44"/>
          <p:cNvSpPr txBox="1">
            <a:spLocks noGrp="1"/>
          </p:cNvSpPr>
          <p:nvPr>
            <p:ph type="body" sz="quarter" idx="21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1112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3" name="TextBox 18"/>
          <p:cNvSpPr txBox="1">
            <a:spLocks noGrp="1"/>
          </p:cNvSpPr>
          <p:nvPr>
            <p:ph type="body" sz="quarter" idx="21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94" name="TextBox 23"/>
          <p:cNvSpPr txBox="1">
            <a:spLocks noGrp="1"/>
          </p:cNvSpPr>
          <p:nvPr>
            <p:ph type="body" sz="quarter" idx="22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</p:spPr>
        <p:txBody>
          <a:bodyPr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20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9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019086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83EBA-EE9A-413E-A784-3816D6A5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F27A1F-031D-40E2-9368-8975DDAE2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B118CE-C0A3-4EC1-A4F9-F7A6B9985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0B22B6-5F00-4794-87B3-109938B40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7E09CE-044E-4C1F-B996-A49B659EB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88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3" r:id="rId14"/>
    <p:sldLayoutId id="2147483694" r:id="rId15"/>
  </p:sldLayoutIdLst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n-silico-organoid-twins.vercel.app/" TargetMode="Externa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2E961-E1BA-FA48-1E0B-C339A328C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BD20751-5698-3868-0E80-4FD04E45F70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ru-RU" smtClean="0"/>
              <a:t>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16863B-1A12-E2CB-E148-672D37CB5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6902"/>
            <a:ext cx="24384000" cy="11949098"/>
          </a:xfrm>
          <a:prstGeom prst="rect">
            <a:avLst/>
          </a:prstGeom>
        </p:spPr>
      </p:pic>
      <p:sp>
        <p:nvSpPr>
          <p:cNvPr id="195" name="Название презентации может быть набрано в две или три строки (43 pt)">
            <a:extLst>
              <a:ext uri="{FF2B5EF4-FFF2-40B4-BE49-F238E27FC236}">
                <a16:creationId xmlns:a16="http://schemas.microsoft.com/office/drawing/2014/main" id="{4835860E-3576-16D9-C260-CEC88BAD11FF}"/>
              </a:ext>
            </a:extLst>
          </p:cNvPr>
          <p:cNvSpPr txBox="1">
            <a:spLocks noGrp="1"/>
          </p:cNvSpPr>
          <p:nvPr>
            <p:ph type="body" sz="half" idx="23"/>
          </p:nvPr>
        </p:nvSpPr>
        <p:spPr>
          <a:xfrm>
            <a:off x="1035098" y="3888778"/>
            <a:ext cx="12557305" cy="325733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77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6600" b="1" dirty="0">
                <a:solidFill>
                  <a:schemeClr val="accent5">
                    <a:lumMod val="50000"/>
                  </a:schemeClr>
                </a:solidFill>
              </a:rPr>
              <a:t>In Silico Organoid Twins</a:t>
            </a:r>
            <a:br>
              <a:rPr lang="ru-RU" sz="66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Automated Bioinformatics Simulation for Patient-Specific Drug Screening</a:t>
            </a:r>
            <a:endParaRPr lang="ru-RU" sz="6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6" name="Если нужно больше места,  то используйте подзаголовок (16 pt)">
            <a:extLst>
              <a:ext uri="{FF2B5EF4-FFF2-40B4-BE49-F238E27FC236}">
                <a16:creationId xmlns:a16="http://schemas.microsoft.com/office/drawing/2014/main" id="{076C6338-EDBA-49D0-8643-F8A47AC3607E}"/>
              </a:ext>
            </a:extLst>
          </p:cNvPr>
          <p:cNvSpPr txBox="1">
            <a:spLocks noGrp="1"/>
          </p:cNvSpPr>
          <p:nvPr>
            <p:ph type="body" sz="quarter" idx="24"/>
          </p:nvPr>
        </p:nvSpPr>
        <p:spPr>
          <a:xfrm>
            <a:off x="1035098" y="7492635"/>
            <a:ext cx="9995707" cy="147099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Autofit/>
          </a:bodyPr>
          <a:lstStyle/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4400" dirty="0">
                <a:solidFill>
                  <a:schemeClr val="accent5">
                    <a:lumMod val="50000"/>
                  </a:schemeClr>
                </a:solidFill>
              </a:rPr>
              <a:t>Biomedical Engineering &amp; Digital Health</a:t>
            </a:r>
          </a:p>
        </p:txBody>
      </p:sp>
      <p:sp>
        <p:nvSpPr>
          <p:cNvPr id="13" name="Если нужно больше места,  то используйте подзаголовок (16 pt)">
            <a:extLst>
              <a:ext uri="{FF2B5EF4-FFF2-40B4-BE49-F238E27FC236}">
                <a16:creationId xmlns:a16="http://schemas.microsoft.com/office/drawing/2014/main" id="{81B11D21-7D24-4974-20C6-19744BD9C755}"/>
              </a:ext>
            </a:extLst>
          </p:cNvPr>
          <p:cNvSpPr txBox="1">
            <a:spLocks/>
          </p:cNvSpPr>
          <p:nvPr/>
        </p:nvSpPr>
        <p:spPr>
          <a:xfrm>
            <a:off x="1035097" y="9380214"/>
            <a:ext cx="9995707" cy="171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00000"/>
              </a:lnSpc>
              <a:spcBef>
                <a:spcPts val="0"/>
              </a:spcBef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sym typeface="Helvetica"/>
              </a:rPr>
              <a:t>Nandini Solanki 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sym typeface="Helvetica"/>
              </a:rPr>
              <a:t>Vidit Jain</a:t>
            </a:r>
            <a:br>
              <a:rPr lang="en-US" sz="3200" b="1" dirty="0">
                <a:solidFill>
                  <a:schemeClr val="accent5">
                    <a:lumMod val="50000"/>
                  </a:schemeClr>
                </a:solidFill>
                <a:sym typeface="Helvetica"/>
              </a:rPr>
            </a:b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sym typeface="Helvetica"/>
              </a:rPr>
              <a:t>V. Subharaga</a:t>
            </a:r>
            <a:endParaRPr lang="ru-RU" sz="3200" b="1" dirty="0">
              <a:solidFill>
                <a:schemeClr val="accent5">
                  <a:lumMod val="50000"/>
                </a:schemeClr>
              </a:solidFill>
              <a:sym typeface="Helvetica"/>
            </a:endParaRPr>
          </a:p>
        </p:txBody>
      </p:sp>
      <p:sp>
        <p:nvSpPr>
          <p:cNvPr id="14" name="Если нужно больше места,  то используйте подзаголовок (16 pt)">
            <a:extLst>
              <a:ext uri="{FF2B5EF4-FFF2-40B4-BE49-F238E27FC236}">
                <a16:creationId xmlns:a16="http://schemas.microsoft.com/office/drawing/2014/main" id="{2AABEA5E-8DE2-7D88-EE4F-E9CDA0203839}"/>
              </a:ext>
            </a:extLst>
          </p:cNvPr>
          <p:cNvSpPr txBox="1">
            <a:spLocks/>
          </p:cNvSpPr>
          <p:nvPr/>
        </p:nvSpPr>
        <p:spPr>
          <a:xfrm>
            <a:off x="1035096" y="11004705"/>
            <a:ext cx="9995707" cy="67021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00000"/>
              </a:lnSpc>
              <a:spcBef>
                <a:spcPts val="0"/>
              </a:spcBef>
              <a:buFontTx/>
              <a:buNone/>
              <a:defRPr sz="3200">
                <a:solidFill>
                  <a:srgbClr val="2253A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800" i="1" dirty="0">
                <a:solidFill>
                  <a:schemeClr val="accent5">
                    <a:lumMod val="50000"/>
                  </a:schemeClr>
                </a:solidFill>
                <a:sym typeface="Helvetica"/>
              </a:rPr>
              <a:t>Bversity School of Biosciences</a:t>
            </a:r>
            <a:endParaRPr lang="ru-RU" sz="2800" i="1" dirty="0">
              <a:solidFill>
                <a:schemeClr val="accent5">
                  <a:lumMod val="50000"/>
                </a:schemeClr>
              </a:solidFill>
              <a:sym typeface="Helvetica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AA6AA1-8DB4-10E2-83B3-B6D2D7211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0297" y="2459941"/>
            <a:ext cx="9995705" cy="9979711"/>
          </a:xfrm>
          <a:prstGeom prst="rect">
            <a:avLst/>
          </a:prstGeom>
          <a:effectLst>
            <a:glow rad="1181100">
              <a:srgbClr val="00B0F0">
                <a:alpha val="0"/>
              </a:srgbClr>
            </a:glow>
            <a:softEdge rad="584200"/>
          </a:effectLst>
        </p:spPr>
      </p:pic>
    </p:spTree>
    <p:extLst>
      <p:ext uri="{BB962C8B-B14F-4D97-AF65-F5344CB8AC3E}">
        <p14:creationId xmlns:p14="http://schemas.microsoft.com/office/powerpoint/2010/main" val="244587887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1612320"/>
          <a:ext cx="0" cy="0"/>
          <a:chOff x="0" y="1612320"/>
          <a:chExt cx="0" cy="0"/>
        </a:xfrm>
      </p:grpSpPr>
      <p:sp>
        <p:nvSpPr>
          <p:cNvPr id="2" name="Shape 0"/>
          <p:cNvSpPr/>
          <p:nvPr/>
        </p:nvSpPr>
        <p:spPr>
          <a:xfrm>
            <a:off x="853451" y="1778955"/>
            <a:ext cx="146306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19063" y="1597425"/>
            <a:ext cx="21945874" cy="1706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&amp; OBJECTIVES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853451" y="3596938"/>
            <a:ext cx="11094859" cy="975372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270937" dist="101601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341137" y="3962703"/>
            <a:ext cx="10241408" cy="73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kern="0" spc="200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67" dirty="0"/>
          </a:p>
        </p:txBody>
      </p:sp>
      <p:sp>
        <p:nvSpPr>
          <p:cNvPr id="6" name="Text 4"/>
          <p:cNvSpPr/>
          <p:nvPr/>
        </p:nvSpPr>
        <p:spPr>
          <a:xfrm>
            <a:off x="1341137" y="4816153"/>
            <a:ext cx="10241408" cy="2194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cancer drug screening methods fail to accurately predict patient-specific responses — leading to ineffective treatments and catastrophic drug failure rates.</a:t>
            </a:r>
            <a:endParaRPr lang="en-US" sz="2933" dirty="0"/>
          </a:p>
        </p:txBody>
      </p:sp>
      <p:sp>
        <p:nvSpPr>
          <p:cNvPr id="7" name="Text 5"/>
          <p:cNvSpPr/>
          <p:nvPr/>
        </p:nvSpPr>
        <p:spPr>
          <a:xfrm>
            <a:off x="1341137" y="7254584"/>
            <a:ext cx="10241408" cy="682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kern="0" spc="200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2667" dirty="0"/>
          </a:p>
        </p:txBody>
      </p:sp>
      <p:sp>
        <p:nvSpPr>
          <p:cNvPr id="8" name="Text 6"/>
          <p:cNvSpPr/>
          <p:nvPr/>
        </p:nvSpPr>
        <p:spPr>
          <a:xfrm>
            <a:off x="1341137" y="8059266"/>
            <a:ext cx="10241408" cy="2682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of cancer drugs fail in clinical trials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cell cultures achieve only ~50% predictive accuracy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Organoids improve accuracy to 80–90% but cannot scale</a:t>
            </a:r>
            <a:endParaRPr lang="en-US" sz="2933" dirty="0"/>
          </a:p>
        </p:txBody>
      </p:sp>
      <p:sp>
        <p:nvSpPr>
          <p:cNvPr id="9" name="Shape 7"/>
          <p:cNvSpPr/>
          <p:nvPr/>
        </p:nvSpPr>
        <p:spPr>
          <a:xfrm>
            <a:off x="12435995" y="3596938"/>
            <a:ext cx="11094859" cy="975372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0"/>
            </a:solidFill>
            <a:prstDash val="solid"/>
          </a:ln>
          <a:effectLst>
            <a:outerShdw blurRad="270937" dist="101601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923682" y="3962703"/>
            <a:ext cx="10241408" cy="73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</a:t>
            </a:r>
            <a:endParaRPr lang="en-US" sz="2667" dirty="0"/>
          </a:p>
        </p:txBody>
      </p:sp>
      <p:sp>
        <p:nvSpPr>
          <p:cNvPr id="11" name="Text 9"/>
          <p:cNvSpPr/>
          <p:nvPr/>
        </p:nvSpPr>
        <p:spPr>
          <a:xfrm>
            <a:off x="12923682" y="4938075"/>
            <a:ext cx="4876861" cy="1097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5867" dirty="0"/>
          </a:p>
        </p:txBody>
      </p:sp>
      <p:sp>
        <p:nvSpPr>
          <p:cNvPr id="12" name="Text 10"/>
          <p:cNvSpPr/>
          <p:nvPr/>
        </p:nvSpPr>
        <p:spPr>
          <a:xfrm>
            <a:off x="17556699" y="5059996"/>
            <a:ext cx="5120704" cy="97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experimental cycle</a:t>
            </a:r>
            <a:endParaRPr lang="en-US" sz="2933" dirty="0"/>
          </a:p>
        </p:txBody>
      </p:sp>
      <p:sp>
        <p:nvSpPr>
          <p:cNvPr id="13" name="Shape 11"/>
          <p:cNvSpPr/>
          <p:nvPr/>
        </p:nvSpPr>
        <p:spPr>
          <a:xfrm>
            <a:off x="12923682" y="6523055"/>
            <a:ext cx="9753722" cy="0"/>
          </a:xfrm>
          <a:prstGeom prst="line">
            <a:avLst/>
          </a:prstGeom>
          <a:noFill/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923682" y="6937588"/>
            <a:ext cx="4876861" cy="1097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&gt;$10,000</a:t>
            </a:r>
            <a:endParaRPr lang="en-US" sz="5867" dirty="0"/>
          </a:p>
        </p:txBody>
      </p:sp>
      <p:sp>
        <p:nvSpPr>
          <p:cNvPr id="15" name="Text 13"/>
          <p:cNvSpPr/>
          <p:nvPr/>
        </p:nvSpPr>
        <p:spPr>
          <a:xfrm>
            <a:off x="17556699" y="7059509"/>
            <a:ext cx="5120704" cy="97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test panel</a:t>
            </a:r>
            <a:endParaRPr lang="en-US" sz="2933" dirty="0"/>
          </a:p>
        </p:txBody>
      </p:sp>
      <p:sp>
        <p:nvSpPr>
          <p:cNvPr id="16" name="Shape 14"/>
          <p:cNvSpPr/>
          <p:nvPr/>
        </p:nvSpPr>
        <p:spPr>
          <a:xfrm>
            <a:off x="12923682" y="8522568"/>
            <a:ext cx="9753722" cy="0"/>
          </a:xfrm>
          <a:prstGeom prst="line">
            <a:avLst/>
          </a:prstGeom>
          <a:noFill/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2923682" y="8937101"/>
            <a:ext cx="4876861" cy="1097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20–50%</a:t>
            </a:r>
            <a:endParaRPr lang="en-US" sz="5867" dirty="0"/>
          </a:p>
        </p:txBody>
      </p:sp>
      <p:sp>
        <p:nvSpPr>
          <p:cNvPr id="18" name="Text 16"/>
          <p:cNvSpPr/>
          <p:nvPr/>
        </p:nvSpPr>
        <p:spPr>
          <a:xfrm>
            <a:off x="17556699" y="9059022"/>
            <a:ext cx="5120704" cy="97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batch-to-batch variability</a:t>
            </a:r>
            <a:endParaRPr lang="en-US" sz="2933" dirty="0"/>
          </a:p>
        </p:txBody>
      </p:sp>
      <p:sp>
        <p:nvSpPr>
          <p:cNvPr id="19" name="Shape 17"/>
          <p:cNvSpPr/>
          <p:nvPr/>
        </p:nvSpPr>
        <p:spPr>
          <a:xfrm>
            <a:off x="12923682" y="10522081"/>
            <a:ext cx="9753722" cy="0"/>
          </a:xfrm>
          <a:prstGeom prst="line">
            <a:avLst/>
          </a:prstGeom>
          <a:noFill/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2923682" y="10936614"/>
            <a:ext cx="4876861" cy="1097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10³–10⁴</a:t>
            </a:r>
            <a:endParaRPr lang="en-US" sz="5867" dirty="0"/>
          </a:p>
        </p:txBody>
      </p:sp>
      <p:sp>
        <p:nvSpPr>
          <p:cNvPr id="21" name="Text 19"/>
          <p:cNvSpPr/>
          <p:nvPr/>
        </p:nvSpPr>
        <p:spPr>
          <a:xfrm>
            <a:off x="17556699" y="11058535"/>
            <a:ext cx="5120704" cy="97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organoids max per batch</a:t>
            </a:r>
            <a:endParaRPr lang="en-US" sz="2933" dirty="0"/>
          </a:p>
        </p:txBody>
      </p:sp>
      <p:sp>
        <p:nvSpPr>
          <p:cNvPr id="22" name="Shape 20"/>
          <p:cNvSpPr/>
          <p:nvPr/>
        </p:nvSpPr>
        <p:spPr>
          <a:xfrm>
            <a:off x="12435995" y="12253366"/>
            <a:ext cx="11094859" cy="109729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679838" y="12326519"/>
            <a:ext cx="10485251" cy="97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PDO-based screening is operationally and economically infeasible at scale</a:t>
            </a:r>
            <a:endParaRPr lang="en-US" sz="2667" dirty="0"/>
          </a:p>
        </p:txBody>
      </p:sp>
      <p:sp>
        <p:nvSpPr>
          <p:cNvPr id="24" name="Shape 22"/>
          <p:cNvSpPr/>
          <p:nvPr/>
        </p:nvSpPr>
        <p:spPr>
          <a:xfrm>
            <a:off x="853451" y="14304351"/>
            <a:ext cx="22677403" cy="0"/>
          </a:xfrm>
          <a:prstGeom prst="line">
            <a:avLst/>
          </a:prstGeom>
          <a:noFill/>
          <a:ln w="12700">
            <a:solidFill>
              <a:srgbClr val="BBCF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53451" y="14353119"/>
            <a:ext cx="21458188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33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Organoid Twins</a:t>
            </a:r>
            <a:endParaRPr lang="en-US" sz="2133" dirty="0"/>
          </a:p>
        </p:txBody>
      </p:sp>
      <p:sp>
        <p:nvSpPr>
          <p:cNvPr id="26" name="Text 24"/>
          <p:cNvSpPr/>
          <p:nvPr/>
        </p:nvSpPr>
        <p:spPr>
          <a:xfrm>
            <a:off x="22921247" y="14353119"/>
            <a:ext cx="731529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1612320"/>
          <a:ext cx="0" cy="0"/>
          <a:chOff x="0" y="1612320"/>
          <a:chExt cx="0" cy="0"/>
        </a:xfrm>
      </p:grpSpPr>
      <p:sp>
        <p:nvSpPr>
          <p:cNvPr id="2" name="Shape 0"/>
          <p:cNvSpPr/>
          <p:nvPr/>
        </p:nvSpPr>
        <p:spPr>
          <a:xfrm>
            <a:off x="853451" y="1850067"/>
            <a:ext cx="146306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41137" y="1631965"/>
            <a:ext cx="21945874" cy="1706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853451" y="3457060"/>
            <a:ext cx="10729094" cy="9509879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270937" dist="101601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341137" y="3822825"/>
            <a:ext cx="9753722" cy="682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kern="0" spc="200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67" dirty="0"/>
          </a:p>
        </p:txBody>
      </p:sp>
      <p:sp>
        <p:nvSpPr>
          <p:cNvPr id="6" name="Text 4"/>
          <p:cNvSpPr/>
          <p:nvPr/>
        </p:nvSpPr>
        <p:spPr>
          <a:xfrm>
            <a:off x="1341137" y="4676275"/>
            <a:ext cx="9753722" cy="2438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 Silico Organoid Twin platform that computationally replicates patient-specific tumor behavior — enabling personalized drug screening at 1% of the cost, in 1% of the time.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41137" y="7358549"/>
            <a:ext cx="9753722" cy="682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kern="0" spc="200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</a:t>
            </a:r>
            <a:endParaRPr lang="en-US" sz="2667" dirty="0"/>
          </a:p>
        </p:txBody>
      </p:sp>
      <p:sp>
        <p:nvSpPr>
          <p:cNvPr id="8" name="Text 6"/>
          <p:cNvSpPr/>
          <p:nvPr/>
        </p:nvSpPr>
        <p:spPr>
          <a:xfrm>
            <a:off x="1341137" y="8163231"/>
            <a:ext cx="9753722" cy="4389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image segmentation (organoid topology)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cellular modeling (PhysiCell)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QSAR + PK/PD drug modeling (RDKit, OpenEye)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PDE-based drug diffusion simulation (FEniCS)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compute (PyTorch)</a:t>
            </a:r>
            <a:endParaRPr lang="en-US" sz="2933" dirty="0"/>
          </a:p>
        </p:txBody>
      </p:sp>
      <p:sp>
        <p:nvSpPr>
          <p:cNvPr id="9" name="Text 7"/>
          <p:cNvSpPr/>
          <p:nvPr/>
        </p:nvSpPr>
        <p:spPr>
          <a:xfrm>
            <a:off x="12314074" y="3224349"/>
            <a:ext cx="10972937" cy="682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kern="0" spc="200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PIPELINE</a:t>
            </a:r>
            <a:endParaRPr lang="en-US" sz="2667" dirty="0"/>
          </a:p>
        </p:txBody>
      </p:sp>
      <p:sp>
        <p:nvSpPr>
          <p:cNvPr id="10" name="Shape 8"/>
          <p:cNvSpPr/>
          <p:nvPr/>
        </p:nvSpPr>
        <p:spPr>
          <a:xfrm>
            <a:off x="12314074" y="4077799"/>
            <a:ext cx="975372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314074" y="4077799"/>
            <a:ext cx="975372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13411368" y="4077799"/>
            <a:ext cx="9997565" cy="1341137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77132" y="4077799"/>
            <a:ext cx="9387957" cy="1341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Input
</a:t>
            </a: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files, histological biopsy images</a:t>
            </a:r>
            <a:endParaRPr lang="en-US" sz="2933" dirty="0"/>
          </a:p>
        </p:txBody>
      </p:sp>
      <p:sp>
        <p:nvSpPr>
          <p:cNvPr id="14" name="Shape 12"/>
          <p:cNvSpPr/>
          <p:nvPr/>
        </p:nvSpPr>
        <p:spPr>
          <a:xfrm>
            <a:off x="12314074" y="6077312"/>
            <a:ext cx="975372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314074" y="6077312"/>
            <a:ext cx="975372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3411368" y="6077312"/>
            <a:ext cx="9997565" cy="1341137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777132" y="6077312"/>
            <a:ext cx="9387957" cy="1341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Organoid Simulation
</a:t>
            </a: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geometry + agent-based cell dynamics</a:t>
            </a:r>
            <a:endParaRPr lang="en-US" sz="2933" dirty="0"/>
          </a:p>
        </p:txBody>
      </p:sp>
      <p:sp>
        <p:nvSpPr>
          <p:cNvPr id="18" name="Shape 16"/>
          <p:cNvSpPr/>
          <p:nvPr/>
        </p:nvSpPr>
        <p:spPr>
          <a:xfrm>
            <a:off x="12314074" y="8076825"/>
            <a:ext cx="975372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2314074" y="8076825"/>
            <a:ext cx="975372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411368" y="8076825"/>
            <a:ext cx="9997565" cy="1341137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3777132" y="8076825"/>
            <a:ext cx="9387957" cy="1341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Modeling
</a:t>
            </a: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QSAR/PK-PD + PDE diffusion within virtual organoid</a:t>
            </a:r>
            <a:endParaRPr lang="en-US" sz="2933" dirty="0"/>
          </a:p>
        </p:txBody>
      </p:sp>
      <p:sp>
        <p:nvSpPr>
          <p:cNvPr id="22" name="Shape 20"/>
          <p:cNvSpPr/>
          <p:nvPr/>
        </p:nvSpPr>
        <p:spPr>
          <a:xfrm>
            <a:off x="12314074" y="10076338"/>
            <a:ext cx="975372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314074" y="10076338"/>
            <a:ext cx="975372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13411368" y="10076338"/>
            <a:ext cx="9997565" cy="1341137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3777132" y="10076338"/>
            <a:ext cx="9387957" cy="1341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Output
</a:t>
            </a: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IC50 curves, synergy maps, dose-response profiles</a:t>
            </a:r>
            <a:endParaRPr lang="en-US" sz="2933" dirty="0"/>
          </a:p>
        </p:txBody>
      </p:sp>
      <p:sp>
        <p:nvSpPr>
          <p:cNvPr id="26" name="Shape 24"/>
          <p:cNvSpPr/>
          <p:nvPr/>
        </p:nvSpPr>
        <p:spPr>
          <a:xfrm>
            <a:off x="12314074" y="12051467"/>
            <a:ext cx="11094859" cy="853451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2435995" y="12100236"/>
            <a:ext cx="10851016" cy="755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~95% correlation with experimental PDOs  ·  Cost: $100 vs $10,000  ·  Time: Hours vs Weeks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853451" y="13588739"/>
            <a:ext cx="22677403" cy="0"/>
          </a:xfrm>
          <a:prstGeom prst="line">
            <a:avLst/>
          </a:prstGeom>
          <a:noFill/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53451" y="14353119"/>
            <a:ext cx="21458188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Organoid Twins</a:t>
            </a:r>
            <a:endParaRPr lang="en-US" sz="2133" dirty="0"/>
          </a:p>
        </p:txBody>
      </p:sp>
      <p:sp>
        <p:nvSpPr>
          <p:cNvPr id="30" name="Text 28"/>
          <p:cNvSpPr/>
          <p:nvPr/>
        </p:nvSpPr>
        <p:spPr>
          <a:xfrm>
            <a:off x="22921247" y="14353119"/>
            <a:ext cx="731529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It Works">
    <p:spTree>
      <p:nvGrpSpPr>
        <p:cNvPr id="1" name=""/>
        <p:cNvGrpSpPr/>
        <p:nvPr/>
      </p:nvGrpSpPr>
      <p:grpSpPr>
        <a:xfrm>
          <a:off x="0" y="1612320"/>
          <a:ext cx="0" cy="0"/>
          <a:chOff x="0" y="1612320"/>
          <a:chExt cx="0" cy="0"/>
        </a:xfrm>
      </p:grpSpPr>
      <p:sp>
        <p:nvSpPr>
          <p:cNvPr id="2" name="AccentBar"/>
          <p:cNvSpPr/>
          <p:nvPr/>
        </p:nvSpPr>
        <p:spPr>
          <a:xfrm>
            <a:off x="853440" y="1850000"/>
            <a:ext cx="146306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219063" y="1636705"/>
            <a:ext cx="21945874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</a:rPr>
              <a:t>HOW IT WORKS</a:t>
            </a:r>
          </a:p>
        </p:txBody>
      </p:sp>
      <p:sp>
        <p:nvSpPr>
          <p:cNvPr id="4" name="SubtitleBar"/>
          <p:cNvSpPr/>
          <p:nvPr/>
        </p:nvSpPr>
        <p:spPr>
          <a:xfrm>
            <a:off x="695785" y="3331125"/>
            <a:ext cx="22676000" cy="560000"/>
          </a:xfrm>
          <a:prstGeom prst="rect">
            <a:avLst/>
          </a:prstGeom>
          <a:solidFill>
            <a:srgbClr val="F0FAFA"/>
          </a:solidFill>
          <a:ln w="19050">
            <a:solidFill>
              <a:srgbClr val="0E9AA7"/>
            </a:solidFill>
          </a:ln>
        </p:spPr>
        <p:txBody>
          <a:bodyPr wrap="square" lIns="114300" tIns="0" rIns="11430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A1628"/>
                </a:solidFill>
                <a:latin typeface="Calibri" pitchFamily="34" charset="0"/>
              </a:rPr>
              <a:t>FROM PATIENT DATA TO DRUG DECISION  ·  Decision-support tool — the oncologist decides treatment</a:t>
            </a:r>
          </a:p>
        </p:txBody>
      </p:sp>
      <p:sp>
        <p:nvSpPr>
          <p:cNvPr id="10" name="Box1BG"/>
          <p:cNvSpPr/>
          <p:nvPr/>
        </p:nvSpPr>
        <p:spPr>
          <a:xfrm>
            <a:off x="317413" y="3926125"/>
            <a:ext cx="7110000" cy="692814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Box1TopBar"/>
          <p:cNvSpPr/>
          <p:nvPr/>
        </p:nvSpPr>
        <p:spPr>
          <a:xfrm>
            <a:off x="317413" y="3926125"/>
            <a:ext cx="7110000" cy="350000"/>
          </a:xfrm>
          <a:prstGeom prst="rect">
            <a:avLst/>
          </a:prstGeom>
          <a:solidFill>
            <a:srgbClr val="0E9A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1Text"/>
          <p:cNvSpPr/>
          <p:nvPr/>
        </p:nvSpPr>
        <p:spPr>
          <a:xfrm>
            <a:off x="473973" y="4346125"/>
            <a:ext cx="6800000" cy="8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67" b="1" dirty="0">
                <a:solidFill>
                  <a:srgbClr val="FFFFFF"/>
                </a:solidFill>
                <a:latin typeface="Calibri" pitchFamily="34" charset="0"/>
              </a:rPr>
              <a:t>01  INPUT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2667" b="1" dirty="0">
                <a:solidFill>
                  <a:srgbClr val="3DCCC7"/>
                </a:solidFill>
                <a:latin typeface="Calibri" pitchFamily="34" charset="0"/>
              </a:rPr>
              <a:t>Clinician uploads: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609600" indent="-609600">
              <a:buChar char="•"/>
            </a:pPr>
            <a:r>
              <a:rPr lang="en-US" sz="2667" b="1" dirty="0">
                <a:solidFill>
                  <a:srgbClr val="FFFFFF"/>
                </a:solidFill>
                <a:latin typeface="Calibri" pitchFamily="34" charset="0"/>
              </a:rPr>
              <a:t>Biopsy histology image</a:t>
            </a:r>
          </a:p>
          <a:p>
            <a:pPr marL="609600" indent="0">
              <a:buNone/>
            </a:pPr>
            <a:r>
              <a:rPr lang="en-US" sz="2267" dirty="0">
                <a:solidFill>
                  <a:srgbClr val="94A3B8"/>
                </a:solidFill>
                <a:latin typeface="Calibri" pitchFamily="34" charset="0"/>
              </a:rPr>
              <a:t>H&amp;E image · TIFF or JPG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609600" indent="-609600">
              <a:buChar char="•"/>
            </a:pPr>
            <a:r>
              <a:rPr lang="en-US" sz="2667" b="1" dirty="0">
                <a:solidFill>
                  <a:srgbClr val="FFFFFF"/>
                </a:solidFill>
                <a:latin typeface="Calibri" pitchFamily="34" charset="0"/>
              </a:rPr>
              <a:t>Gene expression profile</a:t>
            </a:r>
          </a:p>
          <a:p>
            <a:pPr marL="609600" indent="0">
              <a:buNone/>
            </a:pPr>
            <a:r>
              <a:rPr lang="en-US" sz="2267" dirty="0">
                <a:solidFill>
                  <a:srgbClr val="94A3B8"/>
                </a:solidFill>
                <a:latin typeface="Calibri" pitchFamily="34" charset="0"/>
              </a:rPr>
              <a:t>CSV from hospital genomics lab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2267" i="1" dirty="0">
                <a:solidFill>
                  <a:srgbClr val="3DCCC7"/>
                </a:solidFill>
                <a:latin typeface="Calibri" pitchFamily="34" charset="0"/>
              </a:rPr>
              <a:t>Browser-based. No specialist software needed.</a:t>
            </a:r>
          </a:p>
        </p:txBody>
      </p:sp>
      <p:sp>
        <p:nvSpPr>
          <p:cNvPr id="20" name="Arrow1"/>
          <p:cNvSpPr/>
          <p:nvPr/>
        </p:nvSpPr>
        <p:spPr>
          <a:xfrm>
            <a:off x="7583973" y="6860196"/>
            <a:ext cx="900000" cy="530000"/>
          </a:xfrm>
          <a:prstGeom prst="rightArrow">
            <a:avLst/>
          </a:prstGeom>
          <a:solidFill>
            <a:srgbClr val="0E9AA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Box2BG"/>
          <p:cNvSpPr/>
          <p:nvPr/>
        </p:nvSpPr>
        <p:spPr>
          <a:xfrm>
            <a:off x="8673973" y="3926125"/>
            <a:ext cx="7110000" cy="692814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Box2TopBar"/>
          <p:cNvSpPr/>
          <p:nvPr/>
        </p:nvSpPr>
        <p:spPr>
          <a:xfrm>
            <a:off x="8673973" y="3926125"/>
            <a:ext cx="7110000" cy="350000"/>
          </a:xfrm>
          <a:prstGeom prst="rect">
            <a:avLst/>
          </a:prstGeom>
          <a:solidFill>
            <a:srgbClr val="0E9A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Box2Text"/>
          <p:cNvSpPr/>
          <p:nvPr/>
        </p:nvSpPr>
        <p:spPr>
          <a:xfrm>
            <a:off x="8833973" y="4346125"/>
            <a:ext cx="6800000" cy="8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67" b="1" dirty="0">
                <a:solidFill>
                  <a:srgbClr val="FFFFFF"/>
                </a:solidFill>
                <a:latin typeface="Calibri" pitchFamily="34" charset="0"/>
              </a:rPr>
              <a:t>02  PIPELINE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2667" b="1" dirty="0">
                <a:solidFill>
                  <a:srgbClr val="3DCCC7"/>
                </a:solidFill>
                <a:latin typeface="Calibri" pitchFamily="34" charset="0"/>
              </a:rPr>
              <a:t>Automated · 2–4 hours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609600" indent="-609600">
              <a:buChar char="→"/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</a:rPr>
              <a:t>U-Net reconstructs organoid geometry</a:t>
            </a:r>
          </a:p>
          <a:p>
            <a:pPr marL="609600" indent="-609600">
              <a:buChar char="→"/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</a:rPr>
              <a:t>ABM simulates tumour cell dynamics</a:t>
            </a:r>
          </a:p>
          <a:p>
            <a:pPr marL="609600" indent="-609600">
              <a:buChar char="→"/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</a:rPr>
              <a:t>QSAR models drug properties</a:t>
            </a:r>
          </a:p>
          <a:p>
            <a:pPr marL="609600" indent="-609600">
              <a:buChar char="→"/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</a:rPr>
              <a:t>PDE solver simulates drug diffusion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2267" i="1" dirty="0">
                <a:solidFill>
                  <a:srgbClr val="3DCCC7"/>
                </a:solidFill>
                <a:latin typeface="Calibri" pitchFamily="34" charset="0"/>
              </a:rPr>
              <a:t>Lab equivalent: 4–6 weeks</a:t>
            </a:r>
          </a:p>
        </p:txBody>
      </p:sp>
      <p:sp>
        <p:nvSpPr>
          <p:cNvPr id="40" name="Arrow2"/>
          <p:cNvSpPr/>
          <p:nvPr/>
        </p:nvSpPr>
        <p:spPr>
          <a:xfrm>
            <a:off x="15943973" y="6860196"/>
            <a:ext cx="900000" cy="530000"/>
          </a:xfrm>
          <a:prstGeom prst="rightArrow">
            <a:avLst/>
          </a:prstGeom>
          <a:solidFill>
            <a:srgbClr val="0E9A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Box3BG"/>
          <p:cNvSpPr/>
          <p:nvPr/>
        </p:nvSpPr>
        <p:spPr>
          <a:xfrm>
            <a:off x="17033973" y="3926125"/>
            <a:ext cx="7110000" cy="692814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Box3TopBar"/>
          <p:cNvSpPr/>
          <p:nvPr/>
        </p:nvSpPr>
        <p:spPr>
          <a:xfrm>
            <a:off x="17033973" y="3926125"/>
            <a:ext cx="7110000" cy="350000"/>
          </a:xfrm>
          <a:prstGeom prst="rect">
            <a:avLst/>
          </a:prstGeom>
          <a:solidFill>
            <a:srgbClr val="0E9A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Box3Text"/>
          <p:cNvSpPr/>
          <p:nvPr/>
        </p:nvSpPr>
        <p:spPr>
          <a:xfrm>
            <a:off x="17193973" y="4346125"/>
            <a:ext cx="6800000" cy="8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67" b="1" dirty="0">
                <a:solidFill>
                  <a:srgbClr val="FFFFFF"/>
                </a:solidFill>
                <a:latin typeface="Calibri" pitchFamily="34" charset="0"/>
              </a:rPr>
              <a:t>03  OUTPUT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2667" b="1" dirty="0">
                <a:solidFill>
                  <a:srgbClr val="3DCCC7"/>
                </a:solidFill>
                <a:latin typeface="Calibri" pitchFamily="34" charset="0"/>
              </a:rPr>
              <a:t>Clinician receives: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609600" indent="-609600">
              <a:buChar char="•"/>
            </a:pPr>
            <a:r>
              <a:rPr lang="en-US" sz="2667" b="1" dirty="0">
                <a:solidFill>
                  <a:srgbClr val="FFFFFF"/>
                </a:solidFill>
                <a:latin typeface="Calibri" pitchFamily="34" charset="0"/>
              </a:rPr>
              <a:t>Drug sensitivity ranking</a:t>
            </a:r>
          </a:p>
          <a:p>
            <a:pPr marL="609600" indent="0">
              <a:buNone/>
            </a:pPr>
            <a:r>
              <a:rPr lang="en-US" sz="2267" dirty="0">
                <a:solidFill>
                  <a:srgbClr val="94A3B8"/>
                </a:solidFill>
                <a:latin typeface="Calibri" pitchFamily="34" charset="0"/>
              </a:rPr>
              <a:t>Which drugs predicted to work best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609600" indent="-609600">
              <a:buChar char="•"/>
            </a:pPr>
            <a:r>
              <a:rPr lang="en-US" sz="2667" b="1" dirty="0">
                <a:solidFill>
                  <a:srgbClr val="FFFFFF"/>
                </a:solidFill>
                <a:latin typeface="Calibri" pitchFamily="34" charset="0"/>
              </a:rPr>
              <a:t>IC50 dose-response curves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609600" indent="-609600">
              <a:buChar char="•"/>
            </a:pPr>
            <a:r>
              <a:rPr lang="en-US" sz="2667" b="1" dirty="0">
                <a:solidFill>
                  <a:srgbClr val="FFFFFF"/>
                </a:solidFill>
                <a:latin typeface="Calibri" pitchFamily="34" charset="0"/>
              </a:rPr>
              <a:t>Confidence ranges per compound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609600" indent="-609600">
              <a:buChar char="•"/>
            </a:pPr>
            <a:r>
              <a:rPr lang="en-US" sz="2667" b="1" dirty="0">
                <a:solidFill>
                  <a:srgbClr val="FFFFFF"/>
                </a:solidFill>
                <a:latin typeface="Calibri" pitchFamily="34" charset="0"/>
              </a:rPr>
              <a:t>PDF + CSV report download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2267" i="1" dirty="0">
                <a:solidFill>
                  <a:srgbClr val="3DCCC7"/>
                </a:solidFill>
                <a:latin typeface="Calibri" pitchFamily="34" charset="0"/>
              </a:rPr>
              <a:t>Oncologist reviews and decides treatment</a:t>
            </a:r>
          </a:p>
        </p:txBody>
      </p:sp>
      <p:sp>
        <p:nvSpPr>
          <p:cNvPr id="5" name="SubtitleBar">
            <a:extLst>
              <a:ext uri="{FF2B5EF4-FFF2-40B4-BE49-F238E27FC236}">
                <a16:creationId xmlns:a16="http://schemas.microsoft.com/office/drawing/2014/main" id="{E6B2CCE8-DB83-C025-34C3-40BAB0C09F79}"/>
              </a:ext>
            </a:extLst>
          </p:cNvPr>
          <p:cNvSpPr/>
          <p:nvPr/>
        </p:nvSpPr>
        <p:spPr>
          <a:xfrm>
            <a:off x="773091" y="11306000"/>
            <a:ext cx="22676000" cy="1224667"/>
          </a:xfrm>
          <a:prstGeom prst="rect">
            <a:avLst/>
          </a:prstGeom>
          <a:solidFill>
            <a:srgbClr val="F0FAFA"/>
          </a:solidFill>
          <a:ln w="19050">
            <a:solidFill>
              <a:srgbClr val="0E9AA7"/>
            </a:solidFill>
          </a:ln>
        </p:spPr>
        <p:txBody>
          <a:bodyPr wrap="square" lIns="114300" tIns="0" rIns="114300" bIns="0" rtlCol="0" anchor="ctr"/>
          <a:lstStyle/>
          <a:p>
            <a:endParaRPr lang="en-US" sz="2400" b="1" kern="0" spc="100" dirty="0">
              <a:solidFill>
                <a:srgbClr val="0A1628"/>
              </a:solidFill>
              <a:latin typeface="Calibri" pitchFamily="34" charset="0"/>
              <a:hlinkClick r:id="rId2"/>
            </a:endParaRPr>
          </a:p>
          <a:p>
            <a:r>
              <a:rPr lang="en-US" sz="2400" b="1" kern="0" spc="100" dirty="0">
                <a:solidFill>
                  <a:srgbClr val="0A1628"/>
                </a:solidFill>
                <a:latin typeface="Calibri" pitchFamily="34" charset="0"/>
              </a:rPr>
              <a:t>How the page might look like (Prototype)</a:t>
            </a:r>
            <a:endParaRPr lang="en-US" sz="2400" b="1" kern="0" spc="100" dirty="0">
              <a:solidFill>
                <a:srgbClr val="0A1628"/>
              </a:solidFill>
              <a:latin typeface="Calibri" pitchFamily="34" charset="0"/>
              <a:hlinkClick r:id="rId2"/>
            </a:endParaRPr>
          </a:p>
          <a:p>
            <a:r>
              <a:rPr lang="en-US" sz="2400" b="1" kern="0" spc="100" dirty="0">
                <a:solidFill>
                  <a:srgbClr val="0A1628"/>
                </a:solidFill>
                <a:latin typeface="Calibri" pitchFamily="34" charset="0"/>
                <a:hlinkClick r:id="rId2"/>
              </a:rPr>
              <a:t>https://in-silico-organoid-twins.vercel.app/</a:t>
            </a:r>
            <a:endParaRPr lang="en-US" sz="2400" b="1" kern="0" spc="100" dirty="0">
              <a:solidFill>
                <a:srgbClr val="0A1628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1612320"/>
          <a:ext cx="0" cy="0"/>
          <a:chOff x="0" y="1612320"/>
          <a:chExt cx="0" cy="0"/>
        </a:xfrm>
      </p:grpSpPr>
      <p:sp>
        <p:nvSpPr>
          <p:cNvPr id="2" name="Shape 0"/>
          <p:cNvSpPr/>
          <p:nvPr/>
        </p:nvSpPr>
        <p:spPr>
          <a:xfrm>
            <a:off x="853451" y="1850067"/>
            <a:ext cx="146306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19063" y="1636705"/>
            <a:ext cx="21945874" cy="1706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READINESS LEVEL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853451" y="3596939"/>
            <a:ext cx="7315291" cy="9509879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19215" y="3962704"/>
            <a:ext cx="6583762" cy="682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kern="0" spc="200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</a:t>
            </a:r>
            <a:endParaRPr lang="en-US" sz="2667" dirty="0"/>
          </a:p>
        </p:txBody>
      </p:sp>
      <p:sp>
        <p:nvSpPr>
          <p:cNvPr id="6" name="Text 4"/>
          <p:cNvSpPr/>
          <p:nvPr/>
        </p:nvSpPr>
        <p:spPr>
          <a:xfrm>
            <a:off x="1219215" y="4840539"/>
            <a:ext cx="6583762" cy="6339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architecture defined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modules scoped and planned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 against DepMap &amp; GDSC datasets collected</a:t>
            </a:r>
            <a:endParaRPr lang="en-US" sz="2933" dirty="0"/>
          </a:p>
          <a:p>
            <a:pPr marL="914411" indent="-914411">
              <a:buSzPct val="100000"/>
              <a:buChar char="•"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design specification planned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8656428" y="3596939"/>
            <a:ext cx="14874426" cy="9509879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114" y="3962704"/>
            <a:ext cx="13899054" cy="682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7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9-MONTH ROADMAP</a:t>
            </a:r>
            <a:endParaRPr lang="en-US" sz="2667" dirty="0"/>
          </a:p>
        </p:txBody>
      </p:sp>
      <p:sp>
        <p:nvSpPr>
          <p:cNvPr id="9" name="Shape 7"/>
          <p:cNvSpPr/>
          <p:nvPr/>
        </p:nvSpPr>
        <p:spPr>
          <a:xfrm>
            <a:off x="9144114" y="4938076"/>
            <a:ext cx="3657646" cy="2194587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114" y="4938076"/>
            <a:ext cx="3657646" cy="2194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
</a:t>
            </a: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045603" y="4986844"/>
            <a:ext cx="10241408" cy="2097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FHIR parser</a:t>
            </a:r>
            <a:endParaRPr lang="en-US" sz="2667" dirty="0"/>
          </a:p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segmentation engine</a:t>
            </a:r>
            <a:endParaRPr lang="en-US" sz="2667" dirty="0"/>
          </a:p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cellular model</a:t>
            </a:r>
            <a:endParaRPr lang="en-US" sz="2667" dirty="0"/>
          </a:p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QSAR/PKPD + PDE solver; GPU optimisation</a:t>
            </a:r>
            <a:endParaRPr lang="en-US" sz="2667" dirty="0"/>
          </a:p>
        </p:txBody>
      </p:sp>
      <p:sp>
        <p:nvSpPr>
          <p:cNvPr id="12" name="Shape 10"/>
          <p:cNvSpPr/>
          <p:nvPr/>
        </p:nvSpPr>
        <p:spPr>
          <a:xfrm>
            <a:off x="9144114" y="7303353"/>
            <a:ext cx="13899054" cy="0"/>
          </a:xfrm>
          <a:prstGeom prst="line">
            <a:avLst/>
          </a:prstGeom>
          <a:noFill/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144114" y="7864192"/>
            <a:ext cx="3657646" cy="219458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114" y="7864192"/>
            <a:ext cx="3657646" cy="2194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4–5
</a:t>
            </a: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045603" y="7912961"/>
            <a:ext cx="10241408" cy="2097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on 1,000+ PDO profiles (DepMap, GDSC)</a:t>
            </a:r>
            <a:endParaRPr lang="en-US" sz="2667" dirty="0"/>
          </a:p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2667" dirty="0"/>
          </a:p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 report</a:t>
            </a:r>
            <a:endParaRPr lang="en-US" sz="2667" dirty="0"/>
          </a:p>
        </p:txBody>
      </p:sp>
      <p:sp>
        <p:nvSpPr>
          <p:cNvPr id="16" name="Shape 14"/>
          <p:cNvSpPr/>
          <p:nvPr/>
        </p:nvSpPr>
        <p:spPr>
          <a:xfrm>
            <a:off x="9144114" y="10229470"/>
            <a:ext cx="13899054" cy="0"/>
          </a:xfrm>
          <a:prstGeom prst="line">
            <a:avLst/>
          </a:prstGeom>
          <a:noFill/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44114" y="10790309"/>
            <a:ext cx="3657646" cy="2194587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114" y="10790309"/>
            <a:ext cx="3657646" cy="2194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6–9
</a:t>
            </a: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045603" y="10839078"/>
            <a:ext cx="10241408" cy="2097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+ FHIR integration</a:t>
            </a:r>
            <a:endParaRPr lang="en-US" sz="2667" dirty="0"/>
          </a:p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deployment (Docker/Kubernetes)</a:t>
            </a:r>
            <a:endParaRPr lang="en-US" sz="2667" dirty="0"/>
          </a:p>
          <a:p>
            <a:pPr marL="914411" indent="-914411">
              <a:buSzPct val="100000"/>
              <a:buChar char="•"/>
            </a:pPr>
            <a:r>
              <a:rPr lang="en-US" sz="2667" dirty="0">
                <a:solidFill>
                  <a:srgbClr val="2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clinical oncology partner</a:t>
            </a:r>
            <a:endParaRPr lang="en-US" sz="2667" dirty="0"/>
          </a:p>
        </p:txBody>
      </p:sp>
      <p:sp>
        <p:nvSpPr>
          <p:cNvPr id="20" name="Shape 18"/>
          <p:cNvSpPr/>
          <p:nvPr/>
        </p:nvSpPr>
        <p:spPr>
          <a:xfrm>
            <a:off x="853451" y="14304351"/>
            <a:ext cx="22677403" cy="0"/>
          </a:xfrm>
          <a:prstGeom prst="line">
            <a:avLst/>
          </a:prstGeom>
          <a:noFill/>
          <a:ln w="12700">
            <a:solidFill>
              <a:srgbClr val="BBCF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53451" y="14353119"/>
            <a:ext cx="21458188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33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Organoid Twins</a:t>
            </a:r>
            <a:endParaRPr lang="en-US" sz="2133" dirty="0"/>
          </a:p>
        </p:txBody>
      </p:sp>
      <p:sp>
        <p:nvSpPr>
          <p:cNvPr id="22" name="Text 20"/>
          <p:cNvSpPr/>
          <p:nvPr/>
        </p:nvSpPr>
        <p:spPr>
          <a:xfrm>
            <a:off x="22921247" y="14353119"/>
            <a:ext cx="731529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1612320"/>
          <a:ext cx="0" cy="0"/>
          <a:chOff x="0" y="1612320"/>
          <a:chExt cx="0" cy="0"/>
        </a:xfrm>
      </p:grpSpPr>
      <p:sp>
        <p:nvSpPr>
          <p:cNvPr id="2" name="Shape 0"/>
          <p:cNvSpPr/>
          <p:nvPr/>
        </p:nvSpPr>
        <p:spPr>
          <a:xfrm>
            <a:off x="853451" y="1787081"/>
            <a:ext cx="146306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219063" y="1636714"/>
            <a:ext cx="21945874" cy="1706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ANALOGUES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853451" y="3664672"/>
            <a:ext cx="2926117" cy="1219215"/>
          </a:xfrm>
          <a:prstGeom prst="rect">
            <a:avLst/>
          </a:prstGeom>
          <a:solidFill>
            <a:srgbClr val="1A2F4A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3451" y="3664672"/>
            <a:ext cx="2926117" cy="121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7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3779567" y="3664672"/>
            <a:ext cx="5608390" cy="1219215"/>
          </a:xfrm>
          <a:prstGeom prst="rect">
            <a:avLst/>
          </a:prstGeom>
          <a:solidFill>
            <a:srgbClr val="1A2F4A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79567" y="3664672"/>
            <a:ext cx="5608390" cy="121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Cell Culture</a:t>
            </a:r>
            <a:endParaRPr lang="en-US" sz="2667" dirty="0"/>
          </a:p>
        </p:txBody>
      </p:sp>
      <p:sp>
        <p:nvSpPr>
          <p:cNvPr id="8" name="Shape 6"/>
          <p:cNvSpPr/>
          <p:nvPr/>
        </p:nvSpPr>
        <p:spPr>
          <a:xfrm>
            <a:off x="9387957" y="3664672"/>
            <a:ext cx="5608390" cy="1219215"/>
          </a:xfrm>
          <a:prstGeom prst="rect">
            <a:avLst/>
          </a:prstGeom>
          <a:solidFill>
            <a:srgbClr val="1A2F4A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387957" y="3664672"/>
            <a:ext cx="5608390" cy="121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Organoids (PDOs)</a:t>
            </a:r>
            <a:endParaRPr lang="en-US" sz="2667" dirty="0"/>
          </a:p>
        </p:txBody>
      </p:sp>
      <p:sp>
        <p:nvSpPr>
          <p:cNvPr id="10" name="Shape 8"/>
          <p:cNvSpPr/>
          <p:nvPr/>
        </p:nvSpPr>
        <p:spPr>
          <a:xfrm>
            <a:off x="14996347" y="3664672"/>
            <a:ext cx="5608390" cy="1219215"/>
          </a:xfrm>
          <a:prstGeom prst="rect">
            <a:avLst/>
          </a:prstGeom>
          <a:solidFill>
            <a:srgbClr val="0E9AA7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4996347" y="3664672"/>
            <a:ext cx="5608390" cy="121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Twin ★</a:t>
            </a:r>
            <a:endParaRPr lang="en-US" sz="2667" dirty="0"/>
          </a:p>
        </p:txBody>
      </p:sp>
      <p:sp>
        <p:nvSpPr>
          <p:cNvPr id="12" name="Shape 10"/>
          <p:cNvSpPr/>
          <p:nvPr/>
        </p:nvSpPr>
        <p:spPr>
          <a:xfrm>
            <a:off x="853451" y="4883887"/>
            <a:ext cx="2926117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3451" y="4883887"/>
            <a:ext cx="2926117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933" dirty="0"/>
          </a:p>
        </p:txBody>
      </p:sp>
      <p:sp>
        <p:nvSpPr>
          <p:cNvPr id="14" name="Shape 12"/>
          <p:cNvSpPr/>
          <p:nvPr/>
        </p:nvSpPr>
        <p:spPr>
          <a:xfrm>
            <a:off x="3779567" y="4883887"/>
            <a:ext cx="5608390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79567" y="4883887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2933" dirty="0"/>
          </a:p>
        </p:txBody>
      </p:sp>
      <p:sp>
        <p:nvSpPr>
          <p:cNvPr id="16" name="Shape 14"/>
          <p:cNvSpPr/>
          <p:nvPr/>
        </p:nvSpPr>
        <p:spPr>
          <a:xfrm>
            <a:off x="9387957" y="4883887"/>
            <a:ext cx="5608390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387957" y="4883887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</a:t>
            </a:r>
            <a:endParaRPr lang="en-US" sz="2933" dirty="0"/>
          </a:p>
        </p:txBody>
      </p:sp>
      <p:sp>
        <p:nvSpPr>
          <p:cNvPr id="18" name="Shape 16"/>
          <p:cNvSpPr/>
          <p:nvPr/>
        </p:nvSpPr>
        <p:spPr>
          <a:xfrm>
            <a:off x="14996347" y="4883887"/>
            <a:ext cx="5608390" cy="1341137"/>
          </a:xfrm>
          <a:prstGeom prst="rect">
            <a:avLst/>
          </a:prstGeom>
          <a:solidFill>
            <a:srgbClr val="0E3D50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4996347" y="4883887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~95%</a:t>
            </a:r>
            <a:endParaRPr lang="en-US" sz="2933" dirty="0"/>
          </a:p>
        </p:txBody>
      </p:sp>
      <p:sp>
        <p:nvSpPr>
          <p:cNvPr id="20" name="Shape 18"/>
          <p:cNvSpPr/>
          <p:nvPr/>
        </p:nvSpPr>
        <p:spPr>
          <a:xfrm>
            <a:off x="853451" y="6225024"/>
            <a:ext cx="2926117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53451" y="6225024"/>
            <a:ext cx="2926117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Test</a:t>
            </a:r>
            <a:endParaRPr lang="en-US" sz="2933" dirty="0"/>
          </a:p>
        </p:txBody>
      </p:sp>
      <p:sp>
        <p:nvSpPr>
          <p:cNvPr id="22" name="Shape 20"/>
          <p:cNvSpPr/>
          <p:nvPr/>
        </p:nvSpPr>
        <p:spPr>
          <a:xfrm>
            <a:off x="3779567" y="6225024"/>
            <a:ext cx="5608390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779567" y="6225024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933" dirty="0"/>
          </a:p>
        </p:txBody>
      </p:sp>
      <p:sp>
        <p:nvSpPr>
          <p:cNvPr id="24" name="Shape 22"/>
          <p:cNvSpPr/>
          <p:nvPr/>
        </p:nvSpPr>
        <p:spPr>
          <a:xfrm>
            <a:off x="9387957" y="6225024"/>
            <a:ext cx="5608390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387957" y="6225024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~$10,000</a:t>
            </a:r>
            <a:endParaRPr lang="en-US" sz="2933" dirty="0"/>
          </a:p>
        </p:txBody>
      </p:sp>
      <p:sp>
        <p:nvSpPr>
          <p:cNvPr id="26" name="Shape 24"/>
          <p:cNvSpPr/>
          <p:nvPr/>
        </p:nvSpPr>
        <p:spPr>
          <a:xfrm>
            <a:off x="14996347" y="6225024"/>
            <a:ext cx="5608390" cy="1341137"/>
          </a:xfrm>
          <a:prstGeom prst="rect">
            <a:avLst/>
          </a:prstGeom>
          <a:solidFill>
            <a:srgbClr val="0E3D50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4996347" y="6225024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 (95% reduction)</a:t>
            </a:r>
            <a:endParaRPr lang="en-US" sz="2933" dirty="0"/>
          </a:p>
        </p:txBody>
      </p:sp>
      <p:sp>
        <p:nvSpPr>
          <p:cNvPr id="28" name="Shape 26"/>
          <p:cNvSpPr/>
          <p:nvPr/>
        </p:nvSpPr>
        <p:spPr>
          <a:xfrm>
            <a:off x="853451" y="7566161"/>
            <a:ext cx="2926117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53451" y="7566161"/>
            <a:ext cx="2926117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2933" dirty="0"/>
          </a:p>
        </p:txBody>
      </p:sp>
      <p:sp>
        <p:nvSpPr>
          <p:cNvPr id="30" name="Shape 28"/>
          <p:cNvSpPr/>
          <p:nvPr/>
        </p:nvSpPr>
        <p:spPr>
          <a:xfrm>
            <a:off x="3779567" y="7566161"/>
            <a:ext cx="5608390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779567" y="7566161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2933" dirty="0"/>
          </a:p>
        </p:txBody>
      </p:sp>
      <p:sp>
        <p:nvSpPr>
          <p:cNvPr id="32" name="Shape 30"/>
          <p:cNvSpPr/>
          <p:nvPr/>
        </p:nvSpPr>
        <p:spPr>
          <a:xfrm>
            <a:off x="9387957" y="7566161"/>
            <a:ext cx="5608390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387957" y="7566161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2933" dirty="0"/>
          </a:p>
        </p:txBody>
      </p:sp>
      <p:sp>
        <p:nvSpPr>
          <p:cNvPr id="34" name="Shape 32"/>
          <p:cNvSpPr/>
          <p:nvPr/>
        </p:nvSpPr>
        <p:spPr>
          <a:xfrm>
            <a:off x="14996347" y="7566161"/>
            <a:ext cx="5608390" cy="1341137"/>
          </a:xfrm>
          <a:prstGeom prst="rect">
            <a:avLst/>
          </a:prstGeom>
          <a:solidFill>
            <a:srgbClr val="0E3D50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4996347" y="7566161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2933" dirty="0"/>
          </a:p>
        </p:txBody>
      </p:sp>
      <p:sp>
        <p:nvSpPr>
          <p:cNvPr id="36" name="Shape 34"/>
          <p:cNvSpPr/>
          <p:nvPr/>
        </p:nvSpPr>
        <p:spPr>
          <a:xfrm>
            <a:off x="853451" y="8907298"/>
            <a:ext cx="2926117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53451" y="8907298"/>
            <a:ext cx="2926117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2933" dirty="0"/>
          </a:p>
        </p:txBody>
      </p:sp>
      <p:sp>
        <p:nvSpPr>
          <p:cNvPr id="38" name="Shape 36"/>
          <p:cNvSpPr/>
          <p:nvPr/>
        </p:nvSpPr>
        <p:spPr>
          <a:xfrm>
            <a:off x="3779567" y="8907298"/>
            <a:ext cx="5608390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779567" y="8907298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933" dirty="0"/>
          </a:p>
        </p:txBody>
      </p:sp>
      <p:sp>
        <p:nvSpPr>
          <p:cNvPr id="40" name="Shape 38"/>
          <p:cNvSpPr/>
          <p:nvPr/>
        </p:nvSpPr>
        <p:spPr>
          <a:xfrm>
            <a:off x="9387957" y="8907298"/>
            <a:ext cx="5608390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387957" y="8907298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10³–10⁴ organoids</a:t>
            </a:r>
            <a:endParaRPr lang="en-US" sz="2933" dirty="0"/>
          </a:p>
        </p:txBody>
      </p:sp>
      <p:sp>
        <p:nvSpPr>
          <p:cNvPr id="42" name="Shape 40"/>
          <p:cNvSpPr/>
          <p:nvPr/>
        </p:nvSpPr>
        <p:spPr>
          <a:xfrm>
            <a:off x="14996347" y="8907298"/>
            <a:ext cx="5608390" cy="1341137"/>
          </a:xfrm>
          <a:prstGeom prst="rect">
            <a:avLst/>
          </a:prstGeom>
          <a:solidFill>
            <a:srgbClr val="0E3D50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4996347" y="8907298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10⁵ virtual compounds/hr</a:t>
            </a:r>
            <a:endParaRPr lang="en-US" sz="2933" dirty="0"/>
          </a:p>
        </p:txBody>
      </p:sp>
      <p:sp>
        <p:nvSpPr>
          <p:cNvPr id="44" name="Shape 42"/>
          <p:cNvSpPr/>
          <p:nvPr/>
        </p:nvSpPr>
        <p:spPr>
          <a:xfrm>
            <a:off x="853451" y="10248434"/>
            <a:ext cx="2926117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3451" y="10248434"/>
            <a:ext cx="2926117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2933" dirty="0"/>
          </a:p>
        </p:txBody>
      </p:sp>
      <p:sp>
        <p:nvSpPr>
          <p:cNvPr id="46" name="Shape 44"/>
          <p:cNvSpPr/>
          <p:nvPr/>
        </p:nvSpPr>
        <p:spPr>
          <a:xfrm>
            <a:off x="3779567" y="10248434"/>
            <a:ext cx="5608390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779567" y="10248434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933" dirty="0"/>
          </a:p>
        </p:txBody>
      </p:sp>
      <p:sp>
        <p:nvSpPr>
          <p:cNvPr id="48" name="Shape 46"/>
          <p:cNvSpPr/>
          <p:nvPr/>
        </p:nvSpPr>
        <p:spPr>
          <a:xfrm>
            <a:off x="9387957" y="10248434"/>
            <a:ext cx="5608390" cy="1341137"/>
          </a:xfrm>
          <a:prstGeom prst="rect">
            <a:avLst/>
          </a:prstGeom>
          <a:solidFill>
            <a:srgbClr val="112035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387957" y="10248434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933" dirty="0"/>
          </a:p>
        </p:txBody>
      </p:sp>
      <p:sp>
        <p:nvSpPr>
          <p:cNvPr id="50" name="Shape 48"/>
          <p:cNvSpPr/>
          <p:nvPr/>
        </p:nvSpPr>
        <p:spPr>
          <a:xfrm>
            <a:off x="14996347" y="10248434"/>
            <a:ext cx="5608390" cy="1341137"/>
          </a:xfrm>
          <a:prstGeom prst="rect">
            <a:avLst/>
          </a:prstGeom>
          <a:solidFill>
            <a:srgbClr val="0E3D50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4996347" y="10248434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933" dirty="0"/>
          </a:p>
        </p:txBody>
      </p:sp>
      <p:sp>
        <p:nvSpPr>
          <p:cNvPr id="52" name="Shape 50"/>
          <p:cNvSpPr/>
          <p:nvPr/>
        </p:nvSpPr>
        <p:spPr>
          <a:xfrm>
            <a:off x="853451" y="11589571"/>
            <a:ext cx="2926117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53451" y="11589571"/>
            <a:ext cx="2926117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2933" dirty="0"/>
          </a:p>
        </p:txBody>
      </p:sp>
      <p:sp>
        <p:nvSpPr>
          <p:cNvPr id="54" name="Shape 52"/>
          <p:cNvSpPr/>
          <p:nvPr/>
        </p:nvSpPr>
        <p:spPr>
          <a:xfrm>
            <a:off x="3779567" y="11589571"/>
            <a:ext cx="5608390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779567" y="11589571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2933" dirty="0"/>
          </a:p>
        </p:txBody>
      </p:sp>
      <p:sp>
        <p:nvSpPr>
          <p:cNvPr id="56" name="Shape 54"/>
          <p:cNvSpPr/>
          <p:nvPr/>
        </p:nvSpPr>
        <p:spPr>
          <a:xfrm>
            <a:off x="9387957" y="11589571"/>
            <a:ext cx="5608390" cy="1341137"/>
          </a:xfrm>
          <a:prstGeom prst="rect">
            <a:avLst/>
          </a:prstGeom>
          <a:solidFill>
            <a:srgbClr val="0D1B2E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9387957" y="11589571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2933" dirty="0"/>
          </a:p>
        </p:txBody>
      </p:sp>
      <p:sp>
        <p:nvSpPr>
          <p:cNvPr id="58" name="Shape 56"/>
          <p:cNvSpPr/>
          <p:nvPr/>
        </p:nvSpPr>
        <p:spPr>
          <a:xfrm>
            <a:off x="14996347" y="11589571"/>
            <a:ext cx="5608390" cy="1341137"/>
          </a:xfrm>
          <a:prstGeom prst="rect">
            <a:avLst/>
          </a:prstGeom>
          <a:solidFill>
            <a:srgbClr val="0E3D50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14996347" y="11589571"/>
            <a:ext cx="5608390" cy="134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33" b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</a:t>
            </a:r>
            <a:endParaRPr lang="en-US" sz="2933" dirty="0"/>
          </a:p>
        </p:txBody>
      </p:sp>
      <p:sp>
        <p:nvSpPr>
          <p:cNvPr id="60" name="Shape 58"/>
          <p:cNvSpPr/>
          <p:nvPr/>
        </p:nvSpPr>
        <p:spPr>
          <a:xfrm>
            <a:off x="853451" y="14304351"/>
            <a:ext cx="22677403" cy="0"/>
          </a:xfrm>
          <a:prstGeom prst="line">
            <a:avLst/>
          </a:prstGeom>
          <a:noFill/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853451" y="14353119"/>
            <a:ext cx="21458188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Organoid Twins</a:t>
            </a:r>
            <a:endParaRPr lang="en-US" sz="2133" dirty="0"/>
          </a:p>
        </p:txBody>
      </p:sp>
      <p:sp>
        <p:nvSpPr>
          <p:cNvPr id="62" name="Text 60"/>
          <p:cNvSpPr/>
          <p:nvPr/>
        </p:nvSpPr>
        <p:spPr>
          <a:xfrm>
            <a:off x="22921247" y="14353119"/>
            <a:ext cx="731529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612320"/>
          <a:ext cx="0" cy="0"/>
          <a:chOff x="0" y="1612320"/>
          <a:chExt cx="0" cy="0"/>
        </a:xfrm>
      </p:grpSpPr>
      <p:sp>
        <p:nvSpPr>
          <p:cNvPr id="2" name="Shape 0"/>
          <p:cNvSpPr/>
          <p:nvPr/>
        </p:nvSpPr>
        <p:spPr>
          <a:xfrm>
            <a:off x="853451" y="1804014"/>
            <a:ext cx="146306" cy="1341137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162995" y="1596747"/>
            <a:ext cx="22433560" cy="1755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7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(CURRENT &amp; REQUIRED COMPETENCIES)</a:t>
            </a:r>
            <a:endParaRPr lang="en-US" sz="5867" dirty="0"/>
          </a:p>
        </p:txBody>
      </p:sp>
      <p:sp>
        <p:nvSpPr>
          <p:cNvPr id="4" name="Shape 2"/>
          <p:cNvSpPr/>
          <p:nvPr/>
        </p:nvSpPr>
        <p:spPr>
          <a:xfrm>
            <a:off x="853299" y="3129385"/>
            <a:ext cx="7380316" cy="99487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338671" dist="135468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543700" y="3632838"/>
            <a:ext cx="1999513" cy="1999513"/>
          </a:xfrm>
          <a:prstGeom prst="ellipse">
            <a:avLst/>
          </a:prstGeom>
          <a:solidFill>
            <a:srgbClr val="0E9AA7"/>
          </a:solidFill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543700" y="3632838"/>
            <a:ext cx="1999513" cy="1999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6933" dirty="0"/>
          </a:p>
        </p:txBody>
      </p:sp>
      <p:sp>
        <p:nvSpPr>
          <p:cNvPr id="7" name="Text 5"/>
          <p:cNvSpPr/>
          <p:nvPr/>
        </p:nvSpPr>
        <p:spPr>
          <a:xfrm>
            <a:off x="1145910" y="5876194"/>
            <a:ext cx="6795093" cy="926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Nandini Solanki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1097142" y="6802797"/>
            <a:ext cx="6892630" cy="73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3" i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Drug Science | Team Lead</a:t>
            </a:r>
            <a:endParaRPr lang="en-US" sz="2533" dirty="0"/>
          </a:p>
        </p:txBody>
      </p:sp>
      <p:sp>
        <p:nvSpPr>
          <p:cNvPr id="9" name="Shape 7"/>
          <p:cNvSpPr/>
          <p:nvPr/>
        </p:nvSpPr>
        <p:spPr>
          <a:xfrm>
            <a:off x="1340985" y="7680632"/>
            <a:ext cx="6404944" cy="0"/>
          </a:xfrm>
          <a:prstGeom prst="line">
            <a:avLst/>
          </a:prstGeom>
          <a:noFill/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92216" y="7875707"/>
            <a:ext cx="6502481" cy="585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2216" y="8509699"/>
            <a:ext cx="6502481" cy="21458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 &amp; preprocessing, drug modeling (QSAR/PK-PD/PDE), model calibration &amp; validation, dataset curation (biological sign-off), project coordination &amp; presentation.</a:t>
            </a:r>
            <a:endParaRPr lang="en-US" sz="2667" dirty="0"/>
          </a:p>
        </p:txBody>
      </p:sp>
      <p:sp>
        <p:nvSpPr>
          <p:cNvPr id="12" name="Text 10"/>
          <p:cNvSpPr/>
          <p:nvPr/>
        </p:nvSpPr>
        <p:spPr>
          <a:xfrm>
            <a:off x="1292216" y="10801823"/>
            <a:ext cx="6502481" cy="585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92216" y="11387047"/>
            <a:ext cx="6502481" cy="1511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background · Bioinformatics · Biomedical project leadership · Clinical data &amp; drug response expertise</a:t>
            </a:r>
            <a:endParaRPr lang="en-US" sz="2667" dirty="0"/>
          </a:p>
        </p:txBody>
      </p:sp>
      <p:sp>
        <p:nvSpPr>
          <p:cNvPr id="14" name="Shape 12"/>
          <p:cNvSpPr/>
          <p:nvPr/>
        </p:nvSpPr>
        <p:spPr>
          <a:xfrm>
            <a:off x="8501842" y="3145151"/>
            <a:ext cx="7380316" cy="99487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338671" dist="135468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192244" y="3632838"/>
            <a:ext cx="1999513" cy="1999513"/>
          </a:xfrm>
          <a:prstGeom prst="ellipse">
            <a:avLst/>
          </a:prstGeom>
          <a:solidFill>
            <a:srgbClr val="0E9AA7"/>
          </a:solidFill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192244" y="3632838"/>
            <a:ext cx="1999513" cy="1999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6933" dirty="0"/>
          </a:p>
        </p:txBody>
      </p:sp>
      <p:sp>
        <p:nvSpPr>
          <p:cNvPr id="17" name="Text 15"/>
          <p:cNvSpPr/>
          <p:nvPr/>
        </p:nvSpPr>
        <p:spPr>
          <a:xfrm>
            <a:off x="8794454" y="5876194"/>
            <a:ext cx="6795093" cy="926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Vidit Jain</a:t>
            </a:r>
            <a:endParaRPr lang="en-US" sz="3733" dirty="0"/>
          </a:p>
        </p:txBody>
      </p:sp>
      <p:sp>
        <p:nvSpPr>
          <p:cNvPr id="18" name="Text 16"/>
          <p:cNvSpPr/>
          <p:nvPr/>
        </p:nvSpPr>
        <p:spPr>
          <a:xfrm>
            <a:off x="8745685" y="6802797"/>
            <a:ext cx="6892630" cy="73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3" i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Simulation Engineer</a:t>
            </a:r>
            <a:endParaRPr lang="en-US" sz="2533" dirty="0"/>
          </a:p>
        </p:txBody>
      </p:sp>
      <p:sp>
        <p:nvSpPr>
          <p:cNvPr id="19" name="Shape 17"/>
          <p:cNvSpPr/>
          <p:nvPr/>
        </p:nvSpPr>
        <p:spPr>
          <a:xfrm>
            <a:off x="8989528" y="7680632"/>
            <a:ext cx="6404944" cy="0"/>
          </a:xfrm>
          <a:prstGeom prst="line">
            <a:avLst/>
          </a:prstGeom>
          <a:noFill/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940760" y="7875707"/>
            <a:ext cx="6502481" cy="585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40760" y="8509699"/>
            <a:ext cx="6502481" cy="21458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organoid geometry reconstruction, agent-based cellular simulation engine (PhysiCell), FHIR / EHR API integration.</a:t>
            </a:r>
            <a:endParaRPr lang="en-US" sz="2667" dirty="0"/>
          </a:p>
        </p:txBody>
      </p:sp>
      <p:sp>
        <p:nvSpPr>
          <p:cNvPr id="22" name="Text 20"/>
          <p:cNvSpPr/>
          <p:nvPr/>
        </p:nvSpPr>
        <p:spPr>
          <a:xfrm>
            <a:off x="8940760" y="10801823"/>
            <a:ext cx="6502481" cy="585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40760" y="11387047"/>
            <a:ext cx="6502481" cy="1511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biology · Deep learning / computer vision · Biological data pipelines</a:t>
            </a:r>
            <a:endParaRPr lang="en-US" sz="2667" dirty="0"/>
          </a:p>
        </p:txBody>
      </p:sp>
      <p:sp>
        <p:nvSpPr>
          <p:cNvPr id="24" name="Shape 22"/>
          <p:cNvSpPr/>
          <p:nvPr/>
        </p:nvSpPr>
        <p:spPr>
          <a:xfrm>
            <a:off x="16150386" y="3145151"/>
            <a:ext cx="7380316" cy="99487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338671" dist="135468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8840788" y="3632838"/>
            <a:ext cx="1999513" cy="1999513"/>
          </a:xfrm>
          <a:prstGeom prst="ellipse">
            <a:avLst/>
          </a:prstGeom>
          <a:solidFill>
            <a:srgbClr val="0E9AA7"/>
          </a:solidFill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8840788" y="3632838"/>
            <a:ext cx="1999513" cy="1999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933" dirty="0"/>
          </a:p>
        </p:txBody>
      </p:sp>
      <p:sp>
        <p:nvSpPr>
          <p:cNvPr id="27" name="Text 25"/>
          <p:cNvSpPr/>
          <p:nvPr/>
        </p:nvSpPr>
        <p:spPr>
          <a:xfrm>
            <a:off x="16442998" y="5876194"/>
            <a:ext cx="6795093" cy="926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Subharaga</a:t>
            </a:r>
            <a:endParaRPr lang="en-US" sz="3733" dirty="0"/>
          </a:p>
        </p:txBody>
      </p:sp>
      <p:sp>
        <p:nvSpPr>
          <p:cNvPr id="28" name="Text 26"/>
          <p:cNvSpPr/>
          <p:nvPr/>
        </p:nvSpPr>
        <p:spPr>
          <a:xfrm>
            <a:off x="16394229" y="6802797"/>
            <a:ext cx="6892630" cy="73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3" i="1" dirty="0">
                <a:solidFill>
                  <a:srgbClr val="3D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Developer · Regulatory Lead</a:t>
            </a:r>
            <a:endParaRPr lang="en-US" sz="2533" dirty="0"/>
          </a:p>
        </p:txBody>
      </p:sp>
      <p:sp>
        <p:nvSpPr>
          <p:cNvPr id="29" name="Shape 27"/>
          <p:cNvSpPr/>
          <p:nvPr/>
        </p:nvSpPr>
        <p:spPr>
          <a:xfrm>
            <a:off x="16638072" y="7680632"/>
            <a:ext cx="6404944" cy="0"/>
          </a:xfrm>
          <a:prstGeom prst="line">
            <a:avLst/>
          </a:prstGeom>
          <a:noFill/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6589303" y="7875707"/>
            <a:ext cx="6502481" cy="585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6589303" y="8509699"/>
            <a:ext cx="6502481" cy="21458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 &amp; performance optimisation, Streamlit web application, Docker/Kubernetes containerisation, regulatory compliance &amp; documentation, dataset curation (data engineering).</a:t>
            </a:r>
            <a:endParaRPr lang="en-US" sz="2667" dirty="0"/>
          </a:p>
        </p:txBody>
      </p:sp>
      <p:sp>
        <p:nvSpPr>
          <p:cNvPr id="32" name="Text 30"/>
          <p:cNvSpPr/>
          <p:nvPr/>
        </p:nvSpPr>
        <p:spPr>
          <a:xfrm>
            <a:off x="16589303" y="10801823"/>
            <a:ext cx="6502481" cy="585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6589303" y="11387047"/>
            <a:ext cx="6502481" cy="1511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· HPC system integration · Regulatory affairs experience</a:t>
            </a:r>
            <a:endParaRPr lang="en-US" sz="2667" dirty="0"/>
          </a:p>
        </p:txBody>
      </p:sp>
      <p:sp>
        <p:nvSpPr>
          <p:cNvPr id="34" name="Shape 32"/>
          <p:cNvSpPr/>
          <p:nvPr/>
        </p:nvSpPr>
        <p:spPr>
          <a:xfrm>
            <a:off x="853298" y="12752567"/>
            <a:ext cx="22677403" cy="78029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023988" y="12752567"/>
            <a:ext cx="22433560" cy="780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being sought:  Clinical Oncology Advisor  ·  Deep Learning / ML Engineer  ·  Regulatory &amp; Biostatistics Expert</a:t>
            </a:r>
            <a:endParaRPr lang="en-US" sz="25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612320"/>
          <a:ext cx="0" cy="0"/>
          <a:chOff x="0" y="161232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12320"/>
            <a:ext cx="24384305" cy="365765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4962727"/>
            <a:ext cx="24384305" cy="365765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90106" y="1978085"/>
            <a:ext cx="146151" cy="126798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142" y="1705295"/>
            <a:ext cx="21945874" cy="165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70" b="1" i="0" u="none" strike="noStrike" kern="3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r>
              <a:rPr kumimoji="0" lang="en-US" sz="5333" b="1" i="0" u="none" strike="noStrike" kern="3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5870" b="1" i="0" u="none" strike="noStrike" kern="3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kumimoji="0" lang="en-US" sz="5870" b="0" i="0" u="none" strike="noStrike" kern="3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3299" y="3642325"/>
            <a:ext cx="7396572" cy="7315291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270937" dist="101601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853299" y="3642325"/>
            <a:ext cx="7396572" cy="17069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37173" y="4081243"/>
            <a:ext cx="1828823" cy="1828823"/>
          </a:xfrm>
          <a:prstGeom prst="ellipse">
            <a:avLst/>
          </a:prstGeom>
          <a:solidFill>
            <a:srgbClr val="0E9AA7"/>
          </a:solidFill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37173" y="4081243"/>
            <a:ext cx="1828823" cy="1828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67" b="1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kumimoji="0" lang="en-US" sz="58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142" y="6129525"/>
            <a:ext cx="6908886" cy="926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67" b="1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Nandini Solanki</a:t>
            </a:r>
            <a:endParaRPr kumimoji="0" lang="en-US" sz="34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142" y="7056128"/>
            <a:ext cx="6908886" cy="682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40985" y="7885195"/>
            <a:ext cx="6421200" cy="0"/>
          </a:xfrm>
          <a:prstGeom prst="line">
            <a:avLst/>
          </a:prstGeom>
          <a:noFill/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19063" y="8080269"/>
            <a:ext cx="6665043" cy="73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3" b="0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📞  +91-7016138870</a:t>
            </a:r>
            <a:endParaRPr kumimoji="0" lang="en-US" sz="2933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19063" y="8958104"/>
            <a:ext cx="6665043" cy="1706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algn="ctr" defTabSz="2438430">
              <a:defRPr/>
            </a:pPr>
            <a:r>
              <a:rPr lang="en-IN" sz="2400" dirty="0">
                <a:solidFill>
                  <a:schemeClr val="bg1">
                    <a:lumMod val="85000"/>
                  </a:schemeClr>
                </a:solidFill>
              </a:rPr>
              <a:t>Pharma–bioinformatics integration, Drug</a:t>
            </a:r>
          </a:p>
          <a:p>
            <a:pPr lvl="0" algn="ctr" defTabSz="2438430">
              <a:defRPr/>
            </a:pPr>
            <a:r>
              <a:rPr lang="en-IN" sz="2400" dirty="0">
                <a:solidFill>
                  <a:schemeClr val="bg1">
                    <a:lumMod val="85000"/>
                  </a:schemeClr>
                </a:solidFill>
              </a:rPr>
              <a:t>Modelling expertise &amp; Cross functional leadership.</a:t>
            </a:r>
          </a:p>
          <a:p>
            <a:pPr lvl="0" algn="ctr" defTabSz="2438430">
              <a:defRPr/>
            </a:pPr>
            <a:endParaRPr kumimoji="0" lang="en-IN" sz="2400" b="0" i="0" u="none" strike="noStrike" kern="3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 defTabSz="2438430">
              <a:defRPr/>
            </a:pPr>
            <a:r>
              <a:rPr kumimoji="0" lang="en-US" sz="2400" b="0" i="0" u="none" strike="noStrike" kern="3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✉ [ </a:t>
            </a: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solankinandini2001@gmail.com</a:t>
            </a:r>
            <a:r>
              <a:rPr kumimoji="0" lang="en-US" sz="2400" b="0" i="0" u="none" strike="noStrike" kern="3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]</a:t>
            </a:r>
            <a:endParaRPr kumimoji="0" lang="en-US" sz="24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493714" y="3642325"/>
            <a:ext cx="7396572" cy="17069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93714" y="3642325"/>
            <a:ext cx="7396572" cy="7315291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270937" dist="101601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277589" y="4081243"/>
            <a:ext cx="1828823" cy="1828823"/>
          </a:xfrm>
          <a:prstGeom prst="ellipse">
            <a:avLst/>
          </a:prstGeom>
          <a:solidFill>
            <a:srgbClr val="0E9AA7"/>
          </a:solidFill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277589" y="4081243"/>
            <a:ext cx="1828823" cy="1828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67" b="1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kumimoji="0" lang="en-US" sz="58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37557" y="6129525"/>
            <a:ext cx="6908886" cy="926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67" b="1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Vidit Jain</a:t>
            </a:r>
            <a:endParaRPr kumimoji="0" lang="en-US" sz="34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81400" y="7885195"/>
            <a:ext cx="6421200" cy="0"/>
          </a:xfrm>
          <a:prstGeom prst="line">
            <a:avLst/>
          </a:prstGeom>
          <a:noFill/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859479" y="8080269"/>
            <a:ext cx="6665043" cy="73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3" b="0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📞  +91-7597761297</a:t>
            </a:r>
            <a:endParaRPr kumimoji="0" lang="en-US" sz="2933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6134130" y="3642325"/>
            <a:ext cx="7396572" cy="7315291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270937" dist="101601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6134130" y="3642325"/>
            <a:ext cx="7396572" cy="17069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918004" y="4081243"/>
            <a:ext cx="1828823" cy="1828823"/>
          </a:xfrm>
          <a:prstGeom prst="ellipse">
            <a:avLst/>
          </a:prstGeom>
          <a:solidFill>
            <a:srgbClr val="0E9AA7"/>
          </a:solidFill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8918004" y="4081243"/>
            <a:ext cx="1828823" cy="1828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67" b="1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kumimoji="0" lang="en-US" sz="58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377973" y="6129525"/>
            <a:ext cx="6908886" cy="926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67" b="1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Subharaga</a:t>
            </a:r>
            <a:endParaRPr kumimoji="0" lang="en-US" sz="34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6621816" y="7885195"/>
            <a:ext cx="6421200" cy="0"/>
          </a:xfrm>
          <a:prstGeom prst="line">
            <a:avLst/>
          </a:prstGeom>
          <a:noFill/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6499894" y="8080269"/>
            <a:ext cx="6665043" cy="73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3" b="0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📞  +91-9481471320</a:t>
            </a:r>
            <a:endParaRPr kumimoji="0" lang="en-US" sz="2933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75065" y="8944392"/>
            <a:ext cx="6665043" cy="1706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3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dev, GPU optimisation, Docker/Kubernetes deployment</a:t>
            </a:r>
            <a:endParaRPr kumimoji="0" lang="en-US" sz="24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53298" y="11046003"/>
            <a:ext cx="22677403" cy="183493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203203" dist="67734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53298" y="11046003"/>
            <a:ext cx="146304" cy="183493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389600" y="10930190"/>
            <a:ext cx="5138992" cy="609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150" normalizeH="0" baseline="0" noProof="0" dirty="0">
                <a:ln>
                  <a:noFill/>
                </a:ln>
                <a:solidFill>
                  <a:srgbClr val="3DCC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kumimoji="0" lang="en-US" sz="20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389752" y="11972607"/>
            <a:ext cx="5138992" cy="2084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Bversity School of Biosciences</a:t>
            </a:r>
            <a:endParaRPr kumimoji="0" lang="en-US" sz="26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 flipH="1">
            <a:off x="6511645" y="11097814"/>
            <a:ext cx="16947" cy="1706913"/>
          </a:xfrm>
          <a:prstGeom prst="line">
            <a:avLst/>
          </a:prstGeom>
          <a:noFill/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016279" y="10930190"/>
            <a:ext cx="5138992" cy="609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150" normalizeH="0" baseline="0" noProof="0" dirty="0">
                <a:ln>
                  <a:noFill/>
                </a:ln>
                <a:solidFill>
                  <a:srgbClr val="3DCC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kumimoji="0" lang="en-US" sz="20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16431" y="11972607"/>
            <a:ext cx="5138992" cy="2084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All-Russian Scientific School «Young Medicine»</a:t>
            </a:r>
            <a:endParaRPr kumimoji="0" lang="en-US" sz="26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642957" y="10930190"/>
            <a:ext cx="5138992" cy="609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150" normalizeH="0" baseline="0" noProof="0" dirty="0">
                <a:ln>
                  <a:noFill/>
                </a:ln>
                <a:solidFill>
                  <a:srgbClr val="3DCC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NOMINATION</a:t>
            </a:r>
            <a:endParaRPr kumimoji="0" lang="en-US" sz="20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643109" y="11972607"/>
            <a:ext cx="5138992" cy="2084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Engineering &amp; Digital Health Technologies</a:t>
            </a:r>
            <a:endParaRPr kumimoji="0" lang="en-US" sz="26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8269635" y="10930190"/>
            <a:ext cx="5138992" cy="609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150" normalizeH="0" baseline="0" noProof="0" dirty="0">
                <a:ln>
                  <a:noFill/>
                </a:ln>
                <a:solidFill>
                  <a:srgbClr val="3DCC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kumimoji="0" lang="en-US" sz="20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8269787" y="11972607"/>
            <a:ext cx="5138992" cy="2084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3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/ Business Domain</a:t>
            </a:r>
            <a:endParaRPr kumimoji="0" lang="en-US" sz="2667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35">
            <a:extLst>
              <a:ext uri="{FF2B5EF4-FFF2-40B4-BE49-F238E27FC236}">
                <a16:creationId xmlns:a16="http://schemas.microsoft.com/office/drawing/2014/main" id="{69CB33FD-5811-7DEA-0422-863AFBEAADA8}"/>
              </a:ext>
            </a:extLst>
          </p:cNvPr>
          <p:cNvSpPr/>
          <p:nvPr/>
        </p:nvSpPr>
        <p:spPr>
          <a:xfrm flipH="1">
            <a:off x="12390640" y="11009421"/>
            <a:ext cx="16947" cy="1706913"/>
          </a:xfrm>
          <a:prstGeom prst="line">
            <a:avLst/>
          </a:prstGeom>
          <a:noFill/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35">
            <a:extLst>
              <a:ext uri="{FF2B5EF4-FFF2-40B4-BE49-F238E27FC236}">
                <a16:creationId xmlns:a16="http://schemas.microsoft.com/office/drawing/2014/main" id="{F8BD056F-44D8-5756-6A4E-B90109EE6FEA}"/>
              </a:ext>
            </a:extLst>
          </p:cNvPr>
          <p:cNvSpPr/>
          <p:nvPr/>
        </p:nvSpPr>
        <p:spPr>
          <a:xfrm flipH="1">
            <a:off x="17708354" y="11046003"/>
            <a:ext cx="16947" cy="1706913"/>
          </a:xfrm>
          <a:prstGeom prst="line">
            <a:avLst/>
          </a:prstGeom>
          <a:noFill/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1C4BB914-7FFA-69FF-B284-475D0B23C765}"/>
              </a:ext>
            </a:extLst>
          </p:cNvPr>
          <p:cNvSpPr/>
          <p:nvPr/>
        </p:nvSpPr>
        <p:spPr>
          <a:xfrm>
            <a:off x="23372206" y="11046003"/>
            <a:ext cx="146304" cy="183493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6727213" y="8980251"/>
            <a:ext cx="6665043" cy="1706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3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preprocessing, NGS &amp; histology pipelines, simulation modules &amp; presentation</a:t>
            </a:r>
            <a:endParaRPr kumimoji="0" lang="en-US" sz="2400" b="0" i="0" u="none" strike="noStrike" kern="3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ctr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8" tIns="91438" rIns="91438" bIns="91438" numCol="1" spcCol="38100" rtlCol="0" anchor="t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SE Sans Regular"/>
            <a:ea typeface="HSE Sans Regular"/>
            <a:cs typeface="HSE Sans Regular"/>
            <a:sym typeface="HS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Words>843</Words>
  <Application>Microsoft Office PowerPoint</Application>
  <PresentationFormat>Custom</PresentationFormat>
  <Paragraphs>186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Polly Laoney</dc:creator>
  <cp:lastModifiedBy>solankinandini2001@gmail.com</cp:lastModifiedBy>
  <cp:revision>49</cp:revision>
  <dcterms:modified xsi:type="dcterms:W3CDTF">2026-05-10T11:30:13Z</dcterms:modified>
</cp:coreProperties>
</file>